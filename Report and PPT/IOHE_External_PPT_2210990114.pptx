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69" r:id="rId7"/>
    <p:sldId id="274" r:id="rId8"/>
    <p:sldId id="275" r:id="rId9"/>
    <p:sldId id="270" r:id="rId10"/>
    <p:sldId id="271" r:id="rId11"/>
    <p:sldId id="272" r:id="rId12"/>
    <p:sldId id="273" r:id="rId13"/>
    <p:sldId id="268" r:id="rId1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F94F98-2681-4A92-BE48-D2CEB0A45409}" v="294" dt="2026-04-30T16:01:16.4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546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1144082"/>
            <a:ext cx="9144000" cy="5073838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/>
                <a:ea typeface="Calibri"/>
                <a:cs typeface="Times New Roman"/>
              </a:rPr>
              <a:t>Project Presentation of Industry Oriented </a:t>
            </a:r>
            <a:r>
              <a:rPr lang="en-IN" b="1" dirty="0" err="1">
                <a:latin typeface="Times New Roman"/>
                <a:ea typeface="Calibri"/>
                <a:cs typeface="Times New Roman"/>
              </a:rPr>
              <a:t>Hands on</a:t>
            </a:r>
            <a:r>
              <a:rPr lang="en-IN" b="1" dirty="0">
                <a:latin typeface="Times New Roman"/>
                <a:ea typeface="Calibri"/>
                <a:cs typeface="Times New Roman"/>
              </a:rPr>
              <a:t>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spcBef>
                <a:spcPts val="400"/>
              </a:spcBef>
            </a:pPr>
            <a:r>
              <a:rPr lang="en-US" sz="2400" b="1">
                <a:latin typeface="Times New Roman"/>
                <a:ea typeface="+mn-lt"/>
                <a:cs typeface="Times New Roman"/>
              </a:rPr>
              <a:t>Federated Learning for Privacy-Preserving Collaborative AI: An Experimental Analysis of Data Distribution</a:t>
            </a:r>
            <a:endParaRPr lang="en-US" sz="2400" b="1">
              <a:latin typeface="Times New Roman"/>
              <a:cs typeface="Times New Roman"/>
            </a:endParaRPr>
          </a:p>
          <a:p>
            <a:pPr algn="ctr"/>
            <a:br>
              <a:rPr lang="en-US" sz="20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>
                <a:solidFill>
                  <a:srgbClr val="000000"/>
                </a:solidFill>
                <a:latin typeface="Times New Roman"/>
                <a:ea typeface="MS PGothic"/>
                <a:cs typeface="Times New Roman"/>
              </a:rPr>
              <a:t>Aniket (2210990114)</a:t>
            </a:r>
          </a:p>
          <a:p>
            <a:pPr algn="ctr"/>
            <a:r>
              <a:rPr lang="en-US" sz="2000" spc="-1">
                <a:solidFill>
                  <a:srgbClr val="000000"/>
                </a:solidFill>
                <a:latin typeface="Times New Roman"/>
                <a:ea typeface="MS PGothic"/>
                <a:cs typeface="Times New Roman"/>
              </a:rPr>
              <a:t>Akshit Sharma (2210990094)</a:t>
            </a:r>
            <a:endParaRPr lang="en-US"/>
          </a:p>
          <a:p>
            <a:pPr algn="ctr"/>
            <a:r>
              <a:rPr lang="en-US" sz="2000" spc="-1">
                <a:solidFill>
                  <a:srgbClr val="000000"/>
                </a:solidFill>
                <a:latin typeface="Times New Roman"/>
                <a:ea typeface="MS PGothic"/>
                <a:cs typeface="Times New Roman"/>
              </a:rPr>
              <a:t>Anmol Kaushik (2210990121)</a:t>
            </a:r>
            <a:endParaRPr lang="en-US"/>
          </a:p>
          <a:p>
            <a:pPr algn="ctr"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spcBef>
                <a:spcPts val="400"/>
              </a:spcBef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  <a:ea typeface="MS PGothic"/>
                <a:cs typeface="Times New Roman"/>
              </a:rPr>
              <a:t>Dr. </a:t>
            </a:r>
            <a:r>
              <a:rPr lang="en-US" sz="2000" b="1" spc="-1">
                <a:solidFill>
                  <a:srgbClr val="000000"/>
                </a:solidFill>
                <a:latin typeface="Times New Roman"/>
                <a:ea typeface="MS PGothic"/>
                <a:cs typeface="Times New Roman"/>
              </a:rPr>
              <a:t>Gurpreet Singh</a:t>
            </a:r>
            <a:endParaRPr lang="en-US" sz="2000" b="1" strike="noStrike" spc="-1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i="1" spc="-1" dirty="0">
                <a:latin typeface="Times New Roman"/>
                <a:ea typeface="MS PGothic"/>
                <a:cs typeface="Times New Roman"/>
              </a:rPr>
              <a:t>Department of </a:t>
            </a:r>
            <a:r>
              <a:rPr lang="en-US" sz="2400" b="0" i="1" strike="noStrike" spc="-1" dirty="0">
                <a:latin typeface="Times New Roman"/>
                <a:ea typeface="MS PGothic"/>
                <a:cs typeface="Times New Roman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i="1" strike="noStrike" spc="-1" dirty="0">
                <a:latin typeface="Times New Roman"/>
                <a:ea typeface="MS PGothic"/>
                <a:cs typeface="Times New Roman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1" dirty="0">
                <a:latin typeface="Times New Roman"/>
                <a:cs typeface="Times New Roman"/>
              </a:rPr>
              <a:t>Introduction</a:t>
            </a:r>
            <a:endParaRPr lang="en-US" sz="3000" b="1" strike="noStrike" spc="-1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lang="en-US" sz="2000">
                <a:ea typeface="+mn-lt"/>
                <a:cs typeface="+mn-lt"/>
              </a:rPr>
              <a:t>• </a:t>
            </a:r>
            <a:r>
              <a:rPr lang="en-US" sz="2400">
                <a:latin typeface="Times New Roman"/>
                <a:ea typeface="+mn-lt"/>
                <a:cs typeface="Times New Roman"/>
              </a:rPr>
              <a:t>Machine learning traditionally uses centralized data</a:t>
            </a:r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• This raises privacy and security concerns</a:t>
            </a:r>
            <a:endParaRPr lang="en-US" sz="2400" dirty="0">
              <a:latin typeface="Times New Roman"/>
              <a:cs typeface="Times New Roman"/>
            </a:endParaRPr>
          </a:p>
          <a:p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 b="1">
                <a:latin typeface="Times New Roman"/>
                <a:ea typeface="+mn-lt"/>
                <a:cs typeface="Times New Roman"/>
              </a:rPr>
              <a:t>• Federated Learning allows:</a:t>
            </a:r>
            <a:endParaRPr lang="en-US" sz="2400" b="1" dirty="0">
              <a:latin typeface="Times New Roman"/>
              <a:cs typeface="Times New Roman"/>
            </a:endParaRPr>
          </a:p>
          <a:p>
            <a:r>
              <a:rPr lang="en-US" sz="2400" dirty="0">
                <a:latin typeface="Times New Roman"/>
                <a:ea typeface="+mn-lt"/>
                <a:cs typeface="Times New Roman"/>
              </a:rPr>
              <a:t>  </a:t>
            </a:r>
            <a:r>
              <a:rPr lang="en-US" sz="2400">
                <a:latin typeface="Times New Roman"/>
                <a:ea typeface="+mn-lt"/>
                <a:cs typeface="Times New Roman"/>
              </a:rPr>
              <a:t>- Training without sharing raw data</a:t>
            </a:r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 dirty="0">
                <a:latin typeface="Times New Roman"/>
                <a:ea typeface="+mn-lt"/>
                <a:cs typeface="Times New Roman"/>
              </a:rPr>
              <a:t>  </a:t>
            </a:r>
            <a:r>
              <a:rPr lang="en-US" sz="2400">
                <a:latin typeface="Times New Roman"/>
                <a:ea typeface="+mn-lt"/>
                <a:cs typeface="Times New Roman"/>
              </a:rPr>
              <a:t>- Decentralized model updates</a:t>
            </a:r>
            <a:endParaRPr lang="en-US" sz="2400" dirty="0">
              <a:latin typeface="Times New Roman"/>
              <a:cs typeface="Times New Roman"/>
            </a:endParaRPr>
          </a:p>
          <a:p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 b="1">
                <a:latin typeface="Times New Roman"/>
                <a:ea typeface="+mn-lt"/>
                <a:cs typeface="Times New Roman"/>
              </a:rPr>
              <a:t>• Key Problem:</a:t>
            </a:r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 dirty="0">
                <a:latin typeface="Times New Roman"/>
                <a:ea typeface="+mn-lt"/>
                <a:cs typeface="Times New Roman"/>
              </a:rPr>
              <a:t>  </a:t>
            </a:r>
            <a:r>
              <a:rPr lang="en-US" sz="2400">
                <a:latin typeface="Times New Roman"/>
                <a:ea typeface="+mn-lt"/>
                <a:cs typeface="Times New Roman"/>
              </a:rPr>
              <a:t>- Data is not always evenly distributed (Non-IID)</a:t>
            </a:r>
            <a:endParaRPr lang="en-US" sz="2400" dirty="0">
              <a:latin typeface="Times New Roman"/>
              <a:cs typeface="Times New Roman"/>
            </a:endParaRPr>
          </a:p>
          <a:p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 b="1" dirty="0">
                <a:latin typeface="Times New Roman"/>
                <a:ea typeface="+mn-lt"/>
                <a:cs typeface="Times New Roman"/>
              </a:rPr>
              <a:t>• Objective:</a:t>
            </a:r>
            <a:endParaRPr lang="en-US" sz="2400" b="1" dirty="0">
              <a:latin typeface="Times New Roman"/>
              <a:cs typeface="Times New Roman"/>
            </a:endParaRPr>
          </a:p>
          <a:p>
            <a:pPr marL="139700"/>
            <a:r>
              <a:rPr lang="en-US" sz="2400">
                <a:latin typeface="Times New Roman"/>
                <a:ea typeface="+mn-lt"/>
                <a:cs typeface="Times New Roman"/>
              </a:rPr>
              <a:t>   - Compare centralized, IID FL, and Non-IID FL</a:t>
            </a:r>
            <a:endParaRPr lang="en-US"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3F0E2-8717-D3C1-57C6-D3594550E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sz="2400" dirty="0">
                <a:latin typeface="Times New Roman"/>
                <a:ea typeface="+mj-lt"/>
                <a:cs typeface="Times New Roman"/>
              </a:rPr>
              <a:t> </a:t>
            </a:r>
            <a:r>
              <a:rPr lang="en-GB" sz="3200" b="1">
                <a:latin typeface="Times New Roman"/>
                <a:ea typeface="+mj-lt"/>
                <a:cs typeface="Times New Roman"/>
              </a:rPr>
              <a:t>Project Overview</a:t>
            </a:r>
            <a:endParaRPr lang="en-US" sz="3200" b="1">
              <a:latin typeface="Times New Roman"/>
              <a:cs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B0BE4-6193-8ED8-95CA-36CB6423B216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 lIns="0" tIns="0" rIns="0" bIns="0" anchor="t">
            <a:noAutofit/>
          </a:bodyPr>
          <a:lstStyle/>
          <a:p>
            <a:pPr>
              <a:buNone/>
            </a:pPr>
            <a:r>
              <a:rPr lang="en-GB" sz="2000">
                <a:latin typeface="Times New Roman"/>
                <a:ea typeface="+mn-lt"/>
                <a:cs typeface="Times New Roman"/>
              </a:rPr>
              <a:t>• Built a Federated Learning simulation system</a:t>
            </a:r>
            <a:endParaRPr lang="en-US" sz="2000">
              <a:latin typeface="Times New Roman"/>
              <a:ea typeface="+mn-lt"/>
              <a:cs typeface="Times New Roman"/>
            </a:endParaRPr>
          </a:p>
          <a:p>
            <a:pPr>
              <a:buNone/>
            </a:pPr>
            <a:r>
              <a:rPr lang="en-GB" sz="2000">
                <a:latin typeface="Times New Roman"/>
                <a:ea typeface="+mn-lt"/>
                <a:cs typeface="Times New Roman"/>
              </a:rPr>
              <a:t>• </a:t>
            </a:r>
            <a:r>
              <a:rPr lang="en-GB" sz="2000" b="1">
                <a:latin typeface="Times New Roman"/>
                <a:ea typeface="+mn-lt"/>
                <a:cs typeface="Times New Roman"/>
              </a:rPr>
              <a:t>Key Features:</a:t>
            </a:r>
          </a:p>
          <a:p>
            <a:pPr>
              <a:buNone/>
            </a:pPr>
            <a:r>
              <a:rPr lang="en-GB" sz="2000" dirty="0">
                <a:latin typeface="Times New Roman"/>
                <a:ea typeface="+mn-lt"/>
                <a:cs typeface="Times New Roman"/>
              </a:rPr>
              <a:t>  </a:t>
            </a:r>
            <a:r>
              <a:rPr lang="en-GB" sz="2000">
                <a:latin typeface="Times New Roman"/>
                <a:ea typeface="+mn-lt"/>
                <a:cs typeface="Times New Roman"/>
              </a:rPr>
              <a:t>- Multiple client simulation</a:t>
            </a:r>
          </a:p>
          <a:p>
            <a:pPr>
              <a:buNone/>
            </a:pPr>
            <a:r>
              <a:rPr lang="en-GB" sz="2000" dirty="0">
                <a:latin typeface="Times New Roman"/>
                <a:ea typeface="+mn-lt"/>
                <a:cs typeface="Times New Roman"/>
              </a:rPr>
              <a:t>  </a:t>
            </a:r>
            <a:r>
              <a:rPr lang="en-GB" sz="2000">
                <a:latin typeface="Times New Roman"/>
                <a:ea typeface="+mn-lt"/>
                <a:cs typeface="Times New Roman"/>
              </a:rPr>
              <a:t>- IID and Non-IID data handling</a:t>
            </a:r>
          </a:p>
          <a:p>
            <a:pPr>
              <a:buNone/>
            </a:pPr>
            <a:r>
              <a:rPr lang="en-GB" sz="2000" dirty="0">
                <a:latin typeface="Times New Roman"/>
                <a:ea typeface="+mn-lt"/>
                <a:cs typeface="Times New Roman"/>
              </a:rPr>
              <a:t>  </a:t>
            </a:r>
            <a:r>
              <a:rPr lang="en-GB" sz="2000">
                <a:latin typeface="Times New Roman"/>
                <a:ea typeface="+mn-lt"/>
                <a:cs typeface="Times New Roman"/>
              </a:rPr>
              <a:t>- Configurable training rounds</a:t>
            </a:r>
          </a:p>
          <a:p>
            <a:pPr>
              <a:buNone/>
            </a:pPr>
            <a:r>
              <a:rPr lang="en-GB" sz="2000">
                <a:latin typeface="Times New Roman"/>
                <a:ea typeface="+mn-lt"/>
                <a:cs typeface="Times New Roman"/>
              </a:rPr>
              <a:t>• </a:t>
            </a:r>
            <a:r>
              <a:rPr lang="en-GB" sz="2000" b="1">
                <a:latin typeface="Times New Roman"/>
                <a:ea typeface="+mn-lt"/>
                <a:cs typeface="Times New Roman"/>
              </a:rPr>
              <a:t>Dataset Used:</a:t>
            </a:r>
          </a:p>
          <a:p>
            <a:pPr>
              <a:buNone/>
            </a:pPr>
            <a:r>
              <a:rPr lang="en-GB" sz="2000" dirty="0">
                <a:latin typeface="Times New Roman"/>
                <a:ea typeface="+mn-lt"/>
                <a:cs typeface="Times New Roman"/>
              </a:rPr>
              <a:t>  </a:t>
            </a:r>
            <a:r>
              <a:rPr lang="en-GB" sz="2000">
                <a:latin typeface="Times New Roman"/>
                <a:ea typeface="+mn-lt"/>
                <a:cs typeface="Times New Roman"/>
              </a:rPr>
              <a:t> - MNIST (handwritten digits)</a:t>
            </a:r>
            <a:endParaRPr lang="en-GB" sz="20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GB" sz="2000">
                <a:latin typeface="Times New Roman"/>
                <a:ea typeface="+mn-lt"/>
                <a:cs typeface="Times New Roman"/>
              </a:rPr>
              <a:t>• </a:t>
            </a:r>
            <a:r>
              <a:rPr lang="en-GB" sz="2000" b="1">
                <a:latin typeface="Times New Roman"/>
                <a:ea typeface="+mn-lt"/>
                <a:cs typeface="Times New Roman"/>
              </a:rPr>
              <a:t>Model:</a:t>
            </a:r>
          </a:p>
          <a:p>
            <a:pPr marL="0" indent="0">
              <a:buNone/>
            </a:pPr>
            <a:r>
              <a:rPr lang="en-GB" sz="2000" dirty="0">
                <a:latin typeface="Times New Roman"/>
                <a:ea typeface="+mn-lt"/>
                <a:cs typeface="Times New Roman"/>
              </a:rPr>
              <a:t>  </a:t>
            </a:r>
            <a:r>
              <a:rPr lang="en-GB" sz="2000">
                <a:latin typeface="Times New Roman"/>
                <a:ea typeface="+mn-lt"/>
                <a:cs typeface="Times New Roman"/>
              </a:rPr>
              <a:t>- Convolutional Neural Network (CNN)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27D406-B076-4CB6-D345-D75311592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954" y="1557043"/>
            <a:ext cx="3743916" cy="374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753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843E4-B9DB-7383-CAF9-060A3DA4E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sz="3200" b="1">
                <a:latin typeface="Times New Roman"/>
                <a:ea typeface="+mj-lt"/>
                <a:cs typeface="Times New Roman"/>
              </a:rPr>
              <a:t>Technologies Used</a:t>
            </a:r>
            <a:endParaRPr lang="en-US" sz="3200" b="1">
              <a:latin typeface="Times New Roman"/>
              <a:cs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7127B-3B18-9AF0-2BBF-D98C30AA8DC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4671409"/>
          </a:xfrm>
        </p:spPr>
        <p:txBody>
          <a:bodyPr lIns="0" tIns="0" rIns="0" bIns="0" anchor="t">
            <a:normAutofit/>
          </a:bodyPr>
          <a:lstStyle/>
          <a:p>
            <a:pPr>
              <a:buNone/>
            </a:pPr>
            <a:r>
              <a:rPr lang="en-GB" sz="2400">
                <a:latin typeface="Times New Roman"/>
                <a:ea typeface="+mn-lt"/>
                <a:cs typeface="Times New Roman"/>
              </a:rPr>
              <a:t>•</a:t>
            </a:r>
            <a:r>
              <a:rPr lang="en-GB" sz="2400" b="1">
                <a:latin typeface="Times New Roman"/>
                <a:ea typeface="+mn-lt"/>
                <a:cs typeface="Times New Roman"/>
              </a:rPr>
              <a:t> Programming Language:</a:t>
            </a:r>
            <a:endParaRPr lang="en-US" sz="2400" b="1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GB" sz="2400" dirty="0">
                <a:latin typeface="Times New Roman"/>
                <a:ea typeface="+mn-lt"/>
                <a:cs typeface="Times New Roman"/>
              </a:rPr>
              <a:t>  </a:t>
            </a:r>
            <a:r>
              <a:rPr lang="en-GB" sz="2400">
                <a:latin typeface="Times New Roman"/>
                <a:ea typeface="+mn-lt"/>
                <a:cs typeface="Times New Roman"/>
              </a:rPr>
              <a:t>- Python</a:t>
            </a:r>
            <a:endParaRPr lang="en-GB" sz="24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GB" sz="2400">
                <a:latin typeface="Times New Roman"/>
                <a:ea typeface="+mn-lt"/>
                <a:cs typeface="Times New Roman"/>
              </a:rPr>
              <a:t>•</a:t>
            </a:r>
            <a:r>
              <a:rPr lang="en-GB" sz="2400" b="1">
                <a:latin typeface="Times New Roman"/>
                <a:ea typeface="+mn-lt"/>
                <a:cs typeface="Times New Roman"/>
              </a:rPr>
              <a:t> Machine Learning Framework:</a:t>
            </a:r>
            <a:endParaRPr lang="en-GB" sz="2400" b="1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GB" sz="2400" dirty="0">
                <a:latin typeface="Times New Roman"/>
                <a:ea typeface="+mn-lt"/>
                <a:cs typeface="Times New Roman"/>
              </a:rPr>
              <a:t>  - TensorFlow / </a:t>
            </a:r>
            <a:r>
              <a:rPr lang="en-GB" sz="2400" dirty="0" err="1">
                <a:latin typeface="Times New Roman"/>
                <a:ea typeface="+mn-lt"/>
                <a:cs typeface="Times New Roman"/>
              </a:rPr>
              <a:t>Keras</a:t>
            </a:r>
            <a:endParaRPr lang="en-GB" sz="2400" dirty="0" err="1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GB" sz="2400">
                <a:latin typeface="Times New Roman"/>
                <a:ea typeface="+mn-lt"/>
                <a:cs typeface="Times New Roman"/>
              </a:rPr>
              <a:t>• </a:t>
            </a:r>
            <a:r>
              <a:rPr lang="en-GB" sz="2400" b="1">
                <a:latin typeface="Times New Roman"/>
                <a:ea typeface="+mn-lt"/>
                <a:cs typeface="Times New Roman"/>
              </a:rPr>
              <a:t>Data Handling:</a:t>
            </a:r>
            <a:endParaRPr lang="en-GB" sz="2400" b="1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GB" sz="2400" dirty="0">
                <a:latin typeface="Times New Roman"/>
                <a:ea typeface="+mn-lt"/>
                <a:cs typeface="Times New Roman"/>
              </a:rPr>
              <a:t>  </a:t>
            </a:r>
            <a:r>
              <a:rPr lang="en-GB" sz="2400">
                <a:latin typeface="Times New Roman"/>
                <a:ea typeface="+mn-lt"/>
                <a:cs typeface="Times New Roman"/>
              </a:rPr>
              <a:t>- NumPy</a:t>
            </a:r>
            <a:endParaRPr lang="en-GB" sz="24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GB" sz="2400">
                <a:latin typeface="Times New Roman"/>
                <a:ea typeface="+mn-lt"/>
                <a:cs typeface="Times New Roman"/>
              </a:rPr>
              <a:t>• </a:t>
            </a:r>
            <a:r>
              <a:rPr lang="en-GB" sz="2400" b="1">
                <a:latin typeface="Times New Roman"/>
                <a:ea typeface="+mn-lt"/>
                <a:cs typeface="Times New Roman"/>
              </a:rPr>
              <a:t>Visualization:</a:t>
            </a:r>
            <a:endParaRPr lang="en-GB" sz="2400" b="1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GB" sz="2400" dirty="0">
                <a:latin typeface="Times New Roman"/>
                <a:ea typeface="+mn-lt"/>
                <a:cs typeface="Times New Roman"/>
              </a:rPr>
              <a:t>  </a:t>
            </a:r>
            <a:r>
              <a:rPr lang="en-GB" sz="2400">
                <a:latin typeface="Times New Roman"/>
                <a:ea typeface="+mn-lt"/>
                <a:cs typeface="Times New Roman"/>
              </a:rPr>
              <a:t>- Matplotlib</a:t>
            </a:r>
            <a:endParaRPr lang="en-GB" sz="24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2400" dirty="0">
                <a:latin typeface="Times New Roman"/>
                <a:ea typeface="+mn-lt"/>
                <a:cs typeface="Times New Roman"/>
              </a:rPr>
              <a:t>  </a:t>
            </a:r>
            <a:r>
              <a:rPr lang="en-GB" sz="2400">
                <a:latin typeface="Times New Roman"/>
                <a:ea typeface="+mn-lt"/>
                <a:cs typeface="Times New Roman"/>
              </a:rPr>
              <a:t>- Seaborn</a:t>
            </a:r>
            <a:endParaRPr lang="en-GB" sz="2400">
              <a:latin typeface="Times New Roman"/>
              <a:cs typeface="Times New Roman"/>
            </a:endParaRPr>
          </a:p>
        </p:txBody>
      </p:sp>
      <p:pic>
        <p:nvPicPr>
          <p:cNvPr id="4" name="Picture 3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C6B8E56E-16E7-6C38-75E5-E465B9DAC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0530" y="1607617"/>
            <a:ext cx="1457915" cy="1457915"/>
          </a:xfrm>
          <a:prstGeom prst="rect">
            <a:avLst/>
          </a:prstGeom>
        </p:spPr>
      </p:pic>
      <p:pic>
        <p:nvPicPr>
          <p:cNvPr id="6" name="Picture 5" descr="A yellow and orange letter f&#10;&#10;AI-generated content may be incorrect.">
            <a:extLst>
              <a:ext uri="{FF2B5EF4-FFF2-40B4-BE49-F238E27FC236}">
                <a16:creationId xmlns:a16="http://schemas.microsoft.com/office/drawing/2014/main" id="{966F61F1-2898-D1C9-FB01-84D27CABE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474" y="2551648"/>
            <a:ext cx="1618407" cy="1744592"/>
          </a:xfrm>
          <a:prstGeom prst="rect">
            <a:avLst/>
          </a:prstGeom>
        </p:spPr>
      </p:pic>
      <p:pic>
        <p:nvPicPr>
          <p:cNvPr id="7" name="Picture 6" descr="A blue and black cube with a letter n&#10;&#10;AI-generated content may be incorrect.">
            <a:extLst>
              <a:ext uri="{FF2B5EF4-FFF2-40B4-BE49-F238E27FC236}">
                <a16:creationId xmlns:a16="http://schemas.microsoft.com/office/drawing/2014/main" id="{2CC667DA-E54D-154C-7FD1-062FE0BC68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2734" y="4302265"/>
            <a:ext cx="1763390" cy="177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845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5544F-6782-8DA3-2B9B-B1ED4FCD9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sz="3200" b="1">
                <a:latin typeface="Times New Roman"/>
                <a:ea typeface="+mj-lt"/>
                <a:cs typeface="Times New Roman"/>
              </a:rPr>
              <a:t>Technologies Used</a:t>
            </a:r>
            <a:endParaRPr lang="en-US" sz="3200" b="1">
              <a:latin typeface="Times New Roman"/>
              <a:cs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973D8-08EA-4C26-9210-32F4F8A1575B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 lIns="0" tIns="0" rIns="0" bIns="0" anchor="t">
            <a:normAutofit/>
          </a:bodyPr>
          <a:lstStyle/>
          <a:p>
            <a:pPr>
              <a:buNone/>
            </a:pPr>
            <a:r>
              <a:rPr lang="en-GB">
                <a:latin typeface="Times New Roman"/>
                <a:ea typeface="+mn-lt"/>
                <a:cs typeface="Times New Roman"/>
              </a:rPr>
              <a:t>• </a:t>
            </a:r>
            <a:r>
              <a:rPr lang="en-GB" b="1">
                <a:latin typeface="Times New Roman"/>
                <a:ea typeface="+mn-lt"/>
                <a:cs typeface="Times New Roman"/>
              </a:rPr>
              <a:t>Development Environment:</a:t>
            </a:r>
            <a:endParaRPr lang="en-US" b="1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GB" dirty="0">
                <a:latin typeface="Times New Roman"/>
                <a:ea typeface="+mn-lt"/>
                <a:cs typeface="Times New Roman"/>
              </a:rPr>
              <a:t>  - </a:t>
            </a:r>
            <a:r>
              <a:rPr lang="en-GB" dirty="0" err="1">
                <a:latin typeface="Times New Roman"/>
                <a:ea typeface="+mn-lt"/>
                <a:cs typeface="Times New Roman"/>
              </a:rPr>
              <a:t>Jupyter</a:t>
            </a:r>
            <a:r>
              <a:rPr lang="en-GB" dirty="0">
                <a:latin typeface="Times New Roman"/>
                <a:ea typeface="+mn-lt"/>
                <a:cs typeface="Times New Roman"/>
              </a:rPr>
              <a:t> Notebook / Google </a:t>
            </a:r>
            <a:r>
              <a:rPr lang="en-GB" dirty="0" err="1">
                <a:latin typeface="Times New Roman"/>
                <a:ea typeface="+mn-lt"/>
                <a:cs typeface="Times New Roman"/>
              </a:rPr>
              <a:t>Colab</a:t>
            </a:r>
            <a:endParaRPr lang="en-GB" dirty="0" err="1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GB">
                <a:latin typeface="Times New Roman"/>
                <a:ea typeface="+mn-lt"/>
                <a:cs typeface="Times New Roman"/>
              </a:rPr>
              <a:t>• </a:t>
            </a:r>
            <a:r>
              <a:rPr lang="en-GB" b="1">
                <a:latin typeface="Times New Roman"/>
                <a:ea typeface="+mn-lt"/>
                <a:cs typeface="Times New Roman"/>
              </a:rPr>
              <a:t>Dataset:</a:t>
            </a:r>
            <a:endParaRPr lang="en-GB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GB" dirty="0">
                <a:latin typeface="Times New Roman"/>
                <a:ea typeface="+mn-lt"/>
                <a:cs typeface="Times New Roman"/>
              </a:rPr>
              <a:t>  </a:t>
            </a:r>
            <a:r>
              <a:rPr lang="en-GB">
                <a:latin typeface="Times New Roman"/>
                <a:ea typeface="+mn-lt"/>
                <a:cs typeface="Times New Roman"/>
              </a:rPr>
              <a:t>- MNIST (handwritten digits)</a:t>
            </a:r>
            <a:endParaRPr lang="en-GB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GB">
                <a:latin typeface="Times New Roman"/>
                <a:ea typeface="+mn-lt"/>
                <a:cs typeface="Times New Roman"/>
              </a:rPr>
              <a:t>• </a:t>
            </a:r>
            <a:r>
              <a:rPr lang="en-GB" b="1">
                <a:latin typeface="Times New Roman"/>
                <a:ea typeface="+mn-lt"/>
                <a:cs typeface="Times New Roman"/>
              </a:rPr>
              <a:t>Concept Used:</a:t>
            </a:r>
            <a:endParaRPr lang="en-GB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dirty="0">
                <a:latin typeface="Times New Roman"/>
                <a:ea typeface="+mn-lt"/>
                <a:cs typeface="Times New Roman"/>
              </a:rPr>
              <a:t>  - Federated Learning (</a:t>
            </a:r>
            <a:r>
              <a:rPr lang="en-GB" dirty="0" err="1">
                <a:latin typeface="Times New Roman"/>
                <a:ea typeface="+mn-lt"/>
                <a:cs typeface="Times New Roman"/>
              </a:rPr>
              <a:t>FedAvg</a:t>
            </a:r>
            <a:r>
              <a:rPr lang="en-GB" dirty="0">
                <a:latin typeface="Times New Roman"/>
                <a:ea typeface="+mn-lt"/>
                <a:cs typeface="Times New Roman"/>
              </a:rPr>
              <a:t> Algorithm)</a:t>
            </a:r>
            <a:endParaRPr lang="en-GB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29746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728B-93FE-431E-31FF-979629AA3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3200" b="1">
                <a:latin typeface="Times New Roman"/>
                <a:ea typeface="+mj-lt"/>
                <a:cs typeface="Times New Roman"/>
              </a:rPr>
              <a:t>WORK / METHODOLOGY</a:t>
            </a:r>
            <a:endParaRPr lang="en-US" sz="3200" b="1">
              <a:latin typeface="Times New Roman"/>
              <a:cs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0DB98F-3868-38C3-5F69-38192DFBBB4F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 lIns="0" tIns="0" rIns="0" bIns="0" anchor="t">
            <a:normAutofit/>
          </a:bodyPr>
          <a:lstStyle/>
          <a:p>
            <a:pPr>
              <a:buNone/>
            </a:pPr>
            <a:r>
              <a:rPr lang="en-GB">
                <a:ea typeface="+mn-lt"/>
                <a:cs typeface="+mn-lt"/>
              </a:rPr>
              <a:t>• </a:t>
            </a:r>
            <a:r>
              <a:rPr lang="en-GB" b="1">
                <a:latin typeface="Times New Roman"/>
                <a:ea typeface="+mn-lt"/>
                <a:cs typeface="Times New Roman"/>
              </a:rPr>
              <a:t>Centralized Model:</a:t>
            </a:r>
            <a:endParaRPr lang="en-US" b="1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GB">
                <a:latin typeface="Times New Roman"/>
                <a:ea typeface="+mn-lt"/>
                <a:cs typeface="Times New Roman"/>
              </a:rPr>
              <a:t> - Trained using full dataset</a:t>
            </a:r>
            <a:endParaRPr lang="en-GB">
              <a:latin typeface="Times New Roman"/>
              <a:cs typeface="Times New Roman"/>
            </a:endParaRPr>
          </a:p>
          <a:p>
            <a:pPr>
              <a:buNone/>
            </a:pPr>
            <a:endParaRPr lang="en-GB" dirty="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GB">
                <a:latin typeface="Times New Roman"/>
                <a:ea typeface="+mn-lt"/>
                <a:cs typeface="Times New Roman"/>
              </a:rPr>
              <a:t>• </a:t>
            </a:r>
            <a:r>
              <a:rPr lang="en-GB" b="1">
                <a:latin typeface="Times New Roman"/>
                <a:ea typeface="+mn-lt"/>
                <a:cs typeface="Times New Roman"/>
              </a:rPr>
              <a:t>Federated Learning:</a:t>
            </a:r>
            <a:endParaRPr lang="en-GB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GB">
                <a:latin typeface="Times New Roman"/>
                <a:ea typeface="+mn-lt"/>
                <a:cs typeface="Times New Roman"/>
              </a:rPr>
              <a:t> - Data split across 3 clients</a:t>
            </a:r>
            <a:endParaRPr lang="en-GB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GB">
                <a:latin typeface="Times New Roman"/>
                <a:ea typeface="+mn-lt"/>
                <a:cs typeface="Times New Roman"/>
              </a:rPr>
              <a:t> - Local training on each client</a:t>
            </a:r>
            <a:endParaRPr lang="en-GB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dirty="0">
                <a:latin typeface="Times New Roman"/>
                <a:ea typeface="+mn-lt"/>
                <a:cs typeface="Times New Roman"/>
              </a:rPr>
              <a:t> - </a:t>
            </a:r>
            <a:r>
              <a:rPr lang="en-GB" dirty="0" err="1">
                <a:latin typeface="Times New Roman"/>
                <a:ea typeface="+mn-lt"/>
                <a:cs typeface="Times New Roman"/>
              </a:rPr>
              <a:t>FedAvg</a:t>
            </a:r>
            <a:r>
              <a:rPr lang="en-GB" dirty="0">
                <a:latin typeface="Times New Roman"/>
                <a:ea typeface="+mn-lt"/>
                <a:cs typeface="Times New Roman"/>
              </a:rPr>
              <a:t> used for aggregation</a:t>
            </a:r>
            <a:endParaRPr lang="en-GB" dirty="0">
              <a:latin typeface="Times New Roman"/>
              <a:cs typeface="Times New Roman"/>
            </a:endParaRPr>
          </a:p>
        </p:txBody>
      </p:sp>
      <p:pic>
        <p:nvPicPr>
          <p:cNvPr id="4" name="Picture 3" descr="A blue and white brain with connected lines&#10;&#10;AI-generated content may be incorrect.">
            <a:extLst>
              <a:ext uri="{FF2B5EF4-FFF2-40B4-BE49-F238E27FC236}">
                <a16:creationId xmlns:a16="http://schemas.microsoft.com/office/drawing/2014/main" id="{D493F7B9-422D-AF0C-C0F8-9CB029B78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169" y="1949927"/>
            <a:ext cx="2548148" cy="269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897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95A29-68AB-59BE-3074-9A570315C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552E4-2E1C-49B9-5715-735FE64EC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3200" b="1">
                <a:latin typeface="Times New Roman"/>
                <a:ea typeface="+mj-lt"/>
                <a:cs typeface="Times New Roman"/>
              </a:rPr>
              <a:t>WORK / METHODOLOGY</a:t>
            </a:r>
            <a:endParaRPr lang="en-US" sz="3200" b="1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6C39F7-FCC6-94FD-1027-E852E13B1968}"/>
              </a:ext>
            </a:extLst>
          </p:cNvPr>
          <p:cNvSpPr txBox="1"/>
          <p:nvPr/>
        </p:nvSpPr>
        <p:spPr>
          <a:xfrm>
            <a:off x="455176" y="1719557"/>
            <a:ext cx="7940309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>
                <a:latin typeface="Times New Roman"/>
                <a:ea typeface="+mn-lt"/>
                <a:cs typeface="Times New Roman"/>
              </a:rPr>
              <a:t>•</a:t>
            </a:r>
            <a:r>
              <a:rPr lang="en-GB" sz="2800" b="1">
                <a:latin typeface="Times New Roman"/>
                <a:ea typeface="+mn-lt"/>
                <a:cs typeface="Times New Roman"/>
              </a:rPr>
              <a:t> Two Scenarios:</a:t>
            </a:r>
            <a:endParaRPr lang="en-US" sz="2800" b="1">
              <a:latin typeface="Times New Roman"/>
              <a:cs typeface="Times New Roman"/>
            </a:endParaRPr>
          </a:p>
          <a:p>
            <a:r>
              <a:rPr lang="en-GB" sz="2800">
                <a:latin typeface="Times New Roman"/>
                <a:ea typeface="+mn-lt"/>
                <a:cs typeface="Times New Roman"/>
              </a:rPr>
              <a:t> - IID (balanced data)</a:t>
            </a:r>
            <a:endParaRPr lang="en-GB" sz="2800" dirty="0">
              <a:latin typeface="Times New Roman"/>
              <a:cs typeface="Times New Roman"/>
            </a:endParaRPr>
          </a:p>
          <a:p>
            <a:r>
              <a:rPr lang="en-GB" sz="2800">
                <a:latin typeface="Times New Roman"/>
                <a:ea typeface="+mn-lt"/>
                <a:cs typeface="Times New Roman"/>
              </a:rPr>
              <a:t> - Non-IID (biased data)</a:t>
            </a:r>
            <a:endParaRPr lang="en-GB" sz="2800" dirty="0">
              <a:latin typeface="Times New Roman"/>
              <a:cs typeface="Times New Roman"/>
            </a:endParaRPr>
          </a:p>
          <a:p>
            <a:endParaRPr lang="en-GB" sz="2800" dirty="0">
              <a:latin typeface="Times New Roman"/>
              <a:cs typeface="Times New Roman"/>
            </a:endParaRPr>
          </a:p>
          <a:p>
            <a:r>
              <a:rPr lang="en-GB" sz="2800">
                <a:latin typeface="Times New Roman"/>
                <a:ea typeface="+mn-lt"/>
                <a:cs typeface="Times New Roman"/>
              </a:rPr>
              <a:t>• </a:t>
            </a:r>
            <a:r>
              <a:rPr lang="en-GB" sz="2800" b="1">
                <a:latin typeface="Times New Roman"/>
                <a:ea typeface="+mn-lt"/>
                <a:cs typeface="Times New Roman"/>
              </a:rPr>
              <a:t>Evaluation:</a:t>
            </a:r>
            <a:endParaRPr lang="en-GB" sz="2800" b="1">
              <a:latin typeface="Times New Roman"/>
              <a:cs typeface="Times New Roman"/>
            </a:endParaRPr>
          </a:p>
          <a:p>
            <a:r>
              <a:rPr lang="en-GB" sz="2800">
                <a:latin typeface="Times New Roman"/>
                <a:ea typeface="+mn-lt"/>
                <a:cs typeface="Times New Roman"/>
              </a:rPr>
              <a:t> - Accuracy</a:t>
            </a:r>
            <a:endParaRPr lang="en-GB" sz="2800" dirty="0">
              <a:latin typeface="Times New Roman"/>
              <a:cs typeface="Times New Roman"/>
            </a:endParaRPr>
          </a:p>
          <a:p>
            <a:r>
              <a:rPr lang="en-GB" sz="2800" dirty="0">
                <a:latin typeface="Times New Roman"/>
                <a:ea typeface="+mn-lt"/>
                <a:cs typeface="Times New Roman"/>
              </a:rPr>
              <a:t> - Convergence </a:t>
            </a:r>
            <a:r>
              <a:rPr lang="en-GB" sz="2800" dirty="0" err="1">
                <a:latin typeface="Times New Roman"/>
                <a:ea typeface="+mn-lt"/>
                <a:cs typeface="Times New Roman"/>
              </a:rPr>
              <a:t>behavior</a:t>
            </a:r>
            <a:endParaRPr lang="en-GB" sz="2800" dirty="0">
              <a:latin typeface="Times New Roman"/>
              <a:cs typeface="Times New Roman"/>
            </a:endParaRPr>
          </a:p>
          <a:p>
            <a:r>
              <a:rPr lang="en-GB" sz="2800">
                <a:latin typeface="Times New Roman"/>
                <a:ea typeface="+mn-lt"/>
                <a:cs typeface="Times New Roman"/>
              </a:rPr>
              <a:t> - Training time</a:t>
            </a:r>
            <a:endParaRPr lang="en-GB" sz="2800" dirty="0">
              <a:latin typeface="Times New Roman"/>
              <a:cs typeface="Times New Roman"/>
            </a:endParaRPr>
          </a:p>
        </p:txBody>
      </p:sp>
      <p:pic>
        <p:nvPicPr>
          <p:cNvPr id="7" name="Picture 6" descr="A colorful rectangular shapes on a black background&#10;&#10;AI-generated content may be incorrect.">
            <a:extLst>
              <a:ext uri="{FF2B5EF4-FFF2-40B4-BE49-F238E27FC236}">
                <a16:creationId xmlns:a16="http://schemas.microsoft.com/office/drawing/2014/main" id="{5AA94F0B-A2BF-2600-CF2F-9E3236382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238" y="1718884"/>
            <a:ext cx="3480924" cy="354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476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956F3-B6BB-F5EB-5000-419E77B02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sz="3200" b="1">
                <a:latin typeface="Times New Roman"/>
                <a:ea typeface="+mj-lt"/>
                <a:cs typeface="Times New Roman"/>
              </a:rPr>
              <a:t>RESULTS</a:t>
            </a:r>
            <a:endParaRPr lang="en-US" sz="3200" b="1">
              <a:latin typeface="Times New Roman"/>
              <a:ea typeface="+mj-lt"/>
              <a:cs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A617A-03E6-6956-8D00-AC601196569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7200" y="1567500"/>
            <a:ext cx="8229240" cy="4014300"/>
          </a:xfrm>
        </p:spPr>
        <p:txBody>
          <a:bodyPr lIns="0" tIns="0" rIns="0" bIns="0" anchor="t">
            <a:normAutofit fontScale="77500" lnSpcReduction="20000"/>
          </a:bodyPr>
          <a:lstStyle/>
          <a:p>
            <a:pPr>
              <a:buNone/>
            </a:pPr>
            <a:r>
              <a:rPr lang="en-GB">
                <a:ea typeface="+mn-lt"/>
                <a:cs typeface="+mn-lt"/>
              </a:rPr>
              <a:t>• </a:t>
            </a:r>
            <a:r>
              <a:rPr lang="en-GB">
                <a:latin typeface="Times New Roman"/>
                <a:ea typeface="+mn-lt"/>
                <a:cs typeface="Times New Roman"/>
              </a:rPr>
              <a:t>Centralized Accuracy: ~99.15%</a:t>
            </a:r>
            <a:endParaRPr lang="en-US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GB">
                <a:latin typeface="Times New Roman"/>
                <a:ea typeface="+mn-lt"/>
                <a:cs typeface="Times New Roman"/>
              </a:rPr>
              <a:t>• IID Federated: ~99.19%</a:t>
            </a:r>
            <a:endParaRPr lang="en-GB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GB">
                <a:latin typeface="Times New Roman"/>
                <a:ea typeface="+mn-lt"/>
                <a:cs typeface="Times New Roman"/>
              </a:rPr>
              <a:t>• Non-IID Federated: ~94.03%</a:t>
            </a:r>
            <a:endParaRPr lang="en-GB">
              <a:latin typeface="Times New Roman"/>
              <a:cs typeface="Times New Roman"/>
            </a:endParaRPr>
          </a:p>
          <a:p>
            <a:pPr>
              <a:buNone/>
            </a:pPr>
            <a:endParaRPr lang="en-GB" dirty="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GB" b="1">
                <a:latin typeface="Times New Roman"/>
                <a:ea typeface="+mn-lt"/>
                <a:cs typeface="Times New Roman"/>
              </a:rPr>
              <a:t>Observations:</a:t>
            </a:r>
            <a:endParaRPr lang="en-GB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GB">
                <a:latin typeface="Times New Roman"/>
                <a:ea typeface="+mn-lt"/>
                <a:cs typeface="Times New Roman"/>
              </a:rPr>
              <a:t> • IID ≈ Centralized performance</a:t>
            </a:r>
            <a:endParaRPr lang="en-GB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GB">
                <a:latin typeface="Times New Roman"/>
                <a:ea typeface="+mn-lt"/>
                <a:cs typeface="Times New Roman"/>
              </a:rPr>
              <a:t> • Non-IID shows accuracy drop</a:t>
            </a:r>
            <a:endParaRPr lang="en-GB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GB">
                <a:latin typeface="Times New Roman"/>
                <a:ea typeface="+mn-lt"/>
                <a:cs typeface="Times New Roman"/>
              </a:rPr>
              <a:t> • Training slower in federated setup</a:t>
            </a:r>
            <a:endParaRPr lang="en-GB">
              <a:latin typeface="Times New Roman"/>
              <a:cs typeface="Times New Roman"/>
            </a:endParaRPr>
          </a:p>
          <a:p>
            <a:pPr>
              <a:buNone/>
            </a:pPr>
            <a:endParaRPr lang="en-GB" dirty="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GB" b="1">
                <a:latin typeface="Times New Roman"/>
                <a:ea typeface="+mn-lt"/>
                <a:cs typeface="Times New Roman"/>
              </a:rPr>
              <a:t>Key Insight:</a:t>
            </a:r>
            <a:endParaRPr lang="en-GB" b="1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dirty="0">
                <a:latin typeface="Times New Roman"/>
                <a:ea typeface="+mn-lt"/>
                <a:cs typeface="Times New Roman"/>
              </a:rPr>
              <a:t> • Data distribution directly impacts model performance</a:t>
            </a:r>
            <a:endParaRPr lang="en-GB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4315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8D668-88D1-E62A-CF51-272B0EAB9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sz="3200" b="1">
                <a:latin typeface="Times New Roman"/>
                <a:ea typeface="+mj-lt"/>
                <a:cs typeface="Times New Roman"/>
              </a:rPr>
              <a:t>CONCLUSION</a:t>
            </a:r>
            <a:endParaRPr lang="en-US" sz="3200" b="1">
              <a:latin typeface="Times New Roman"/>
              <a:cs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1CF5D-1109-576F-2AD4-9252C4C65B2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7200" y="1169532"/>
            <a:ext cx="8229240" cy="4514073"/>
          </a:xfrm>
        </p:spPr>
        <p:txBody>
          <a:bodyPr lIns="0" tIns="0" rIns="0" bIns="0" anchor="t">
            <a:noAutofit/>
          </a:bodyPr>
          <a:lstStyle/>
          <a:p>
            <a:pPr>
              <a:buNone/>
            </a:pPr>
            <a:r>
              <a:rPr lang="en-GB" sz="2400">
                <a:latin typeface="Times New Roman"/>
                <a:ea typeface="+mn-lt"/>
                <a:cs typeface="Times New Roman"/>
              </a:rPr>
              <a:t>•</a:t>
            </a:r>
            <a:r>
              <a:rPr lang="en-GB" sz="2400" b="1">
                <a:latin typeface="Times New Roman"/>
                <a:ea typeface="+mn-lt"/>
                <a:cs typeface="Times New Roman"/>
              </a:rPr>
              <a:t> Federated Learning is effective for privacy</a:t>
            </a:r>
            <a:endParaRPr lang="en-US" sz="2400" b="1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GB" sz="2400">
                <a:latin typeface="Times New Roman"/>
                <a:ea typeface="+mn-lt"/>
                <a:cs typeface="Times New Roman"/>
              </a:rPr>
              <a:t>• Works well when:</a:t>
            </a:r>
            <a:endParaRPr lang="en-GB" sz="24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GB" sz="2400" dirty="0">
                <a:latin typeface="Times New Roman"/>
                <a:ea typeface="+mn-lt"/>
                <a:cs typeface="Times New Roman"/>
              </a:rPr>
              <a:t>  </a:t>
            </a:r>
            <a:r>
              <a:rPr lang="en-GB" sz="2400">
                <a:latin typeface="Times New Roman"/>
                <a:ea typeface="+mn-lt"/>
                <a:cs typeface="Times New Roman"/>
              </a:rPr>
              <a:t>- Data is evenly distributed (IID)</a:t>
            </a:r>
            <a:endParaRPr lang="en-GB" sz="24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GB" sz="2400">
                <a:latin typeface="Times New Roman"/>
                <a:ea typeface="+mn-lt"/>
                <a:cs typeface="Times New Roman"/>
              </a:rPr>
              <a:t>•</a:t>
            </a:r>
            <a:r>
              <a:rPr lang="en-GB" sz="2400" b="1">
                <a:latin typeface="Times New Roman"/>
                <a:ea typeface="+mn-lt"/>
                <a:cs typeface="Times New Roman"/>
              </a:rPr>
              <a:t> Challenges in Non-IID:</a:t>
            </a:r>
            <a:endParaRPr lang="en-GB" sz="2400" b="1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GB" sz="2400" dirty="0">
                <a:latin typeface="Times New Roman"/>
                <a:ea typeface="+mn-lt"/>
                <a:cs typeface="Times New Roman"/>
              </a:rPr>
              <a:t>  </a:t>
            </a:r>
            <a:r>
              <a:rPr lang="en-GB" sz="2400">
                <a:latin typeface="Times New Roman"/>
                <a:ea typeface="+mn-lt"/>
                <a:cs typeface="Times New Roman"/>
              </a:rPr>
              <a:t>- Client drift</a:t>
            </a:r>
            <a:endParaRPr lang="en-GB" sz="24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GB" sz="2400" dirty="0">
                <a:latin typeface="Times New Roman"/>
                <a:ea typeface="+mn-lt"/>
                <a:cs typeface="Times New Roman"/>
              </a:rPr>
              <a:t>  </a:t>
            </a:r>
            <a:r>
              <a:rPr lang="en-GB" sz="2400">
                <a:latin typeface="Times New Roman"/>
                <a:ea typeface="+mn-lt"/>
                <a:cs typeface="Times New Roman"/>
              </a:rPr>
              <a:t>- Slower convergence</a:t>
            </a:r>
            <a:endParaRPr lang="en-GB" sz="24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GB" sz="2400" dirty="0">
                <a:latin typeface="Times New Roman"/>
                <a:ea typeface="+mn-lt"/>
                <a:cs typeface="Times New Roman"/>
              </a:rPr>
              <a:t>  </a:t>
            </a:r>
            <a:r>
              <a:rPr lang="en-GB" sz="2400">
                <a:latin typeface="Times New Roman"/>
                <a:ea typeface="+mn-lt"/>
                <a:cs typeface="Times New Roman"/>
              </a:rPr>
              <a:t>- Reduced accuracy</a:t>
            </a:r>
            <a:endParaRPr lang="en-GB" sz="24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GB" sz="2400" b="1">
                <a:latin typeface="Times New Roman"/>
                <a:ea typeface="+mn-lt"/>
                <a:cs typeface="Times New Roman"/>
              </a:rPr>
              <a:t>• Contribution:</a:t>
            </a:r>
            <a:endParaRPr lang="en-GB" sz="2400" b="1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GB" sz="2400" dirty="0">
                <a:latin typeface="Times New Roman"/>
                <a:ea typeface="+mn-lt"/>
                <a:cs typeface="Times New Roman"/>
              </a:rPr>
              <a:t>  </a:t>
            </a:r>
            <a:r>
              <a:rPr lang="en-GB" sz="2400">
                <a:latin typeface="Times New Roman"/>
                <a:ea typeface="+mn-lt"/>
                <a:cs typeface="Times New Roman"/>
              </a:rPr>
              <a:t>- Built a configurable FL simulation system</a:t>
            </a:r>
            <a:endParaRPr lang="en-GB" sz="24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2400" dirty="0">
                <a:latin typeface="Times New Roman"/>
                <a:ea typeface="+mn-lt"/>
                <a:cs typeface="Times New Roman"/>
              </a:rPr>
              <a:t>  - Demonstrated impact of data distribution</a:t>
            </a:r>
            <a:endParaRPr lang="en-GB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8422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34700</TotalTime>
  <Words>79</Words>
  <Application>Microsoft Office PowerPoint</Application>
  <PresentationFormat>On-screen Show (4:3)</PresentationFormat>
  <Paragraphs>30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 Project Overview</vt:lpstr>
      <vt:lpstr>Technologies Used</vt:lpstr>
      <vt:lpstr>Technologies Used</vt:lpstr>
      <vt:lpstr>WORK / METHODOLOGY</vt:lpstr>
      <vt:lpstr>WORK / METHODOLOGY</vt:lpstr>
      <vt:lpstr>RESULTS</vt:lpstr>
      <vt:lpstr>CONCLUSION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simar virk</cp:lastModifiedBy>
  <cp:revision>2423</cp:revision>
  <dcterms:created xsi:type="dcterms:W3CDTF">2010-04-09T07:36:15Z</dcterms:created>
  <dcterms:modified xsi:type="dcterms:W3CDTF">2026-04-30T16:15:56Z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